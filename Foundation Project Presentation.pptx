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b561ae87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b561ae87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b561ae87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b561ae8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b561ae87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b561ae87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b561ae87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b561ae87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b561ae87f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b561ae87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b561ae87f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b561ae87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b561ae87f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b561ae87f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b561ae87f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b561ae87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b561ae87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b561ae87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b561ae87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b561ae87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b561ae87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b561ae87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Whitmore TAA Portfolio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Kavin Ravi, Adler Wright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IPS Constraints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recommend adopting the proposed SAA as the baseline portfolio, with a market stress TAA overlay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TAA overlay improved annualized return from 8.50% to 9.49% while reducing the volatility from 10.41% to 9.13%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overlay improved max drawdown from -30.54% to -19.05%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TAA </a:t>
            </a:r>
            <a:r>
              <a:rPr lang="en"/>
              <a:t>satisfies</a:t>
            </a:r>
            <a:r>
              <a:rPr lang="en"/>
              <a:t> all three IPS targets of 8% return, ≤15% volatility, and ≤25% max drawdown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allocations are subject to IPS constraints and include transaction costs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SAA Construction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SAA was constructed using Markowitz Mean-Variance Optimization with Black-Litterman return estimates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was chosen because Whitmore’s objective is not just minimizing risk, but balancing return generation with the stated IPS volatility and drawdown limits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Black-Litterman helped stabilize expected return inputs and reduce sensitivity to noisy historical return estimates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SAA outperformed the traditional 60/40 benchmark and the diversified policy benchmark, but breached the IPS drawdown constraint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TAA Signal &amp; Hypothesis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designed a market stress TAA signal to identify risk-off regimes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Signal inputs: High Yield OAS, VIX, S&amp;P 500 trend, and Russell 2000 / S&amp;P 500 relative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Hypothesis: When credit spreads widen, volatility rises, equity trend weakens, and small caps underperform, expected returns on risky sleeves fall as downside risk increases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triggered, the optimizer dynamically shifts away from risky sleeves </a:t>
            </a:r>
            <a:r>
              <a:rPr lang="en"/>
              <a:t>towards</a:t>
            </a:r>
            <a:r>
              <a:rPr lang="en"/>
              <a:t> more defensive sleeves </a:t>
            </a:r>
            <a:r>
              <a:rPr lang="en"/>
              <a:t>to improve risk-adjusted returns and reduce drawdowns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Walk-Forward Methodology 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9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data was procured from the Zion database and manually from the Bloomberg terminals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Asset classes used were: US Equities, Treasuries, TIPS, REITS, Gold, Bitcoin, and JPY for risk-off TAA signal fire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Assets were added into the universe as soon as their data began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12-fold walk </a:t>
            </a:r>
            <a:r>
              <a:rPr lang="en"/>
              <a:t>forward</a:t>
            </a:r>
            <a:r>
              <a:rPr lang="en"/>
              <a:t> strategy, 60-month expanding train window, 12-month val, 18-month test period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XGBoost fitted on </a:t>
            </a:r>
            <a:r>
              <a:rPr lang="en"/>
              <a:t>training</a:t>
            </a:r>
            <a:r>
              <a:rPr lang="en"/>
              <a:t> data as signal classifier, LSTM/Transformer fitted on train data for return forecasts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Forward Cont’d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919075"/>
            <a:ext cx="27285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12 folds and rigorous data leakage protection was used to prevent “reward hacking” by the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Models NEVER fit to val/test data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2061225"/>
            <a:ext cx="59436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Trial Disclosure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Grid search run across 4 hypotheses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each hypothesis, both LSTM &amp; Transformer are tested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each model, a variety of asset distributions and hyperparameters are tested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leads to a massive parameter search space exacerbated by model training times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Solution: Autoresearch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model/hyperparameter combinations are saved to avoid data snooping bias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additional security against data snooping/cherrypicking, 2 bootstrap Monte-Carlo search simulations were run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Trial Disclosure Cont’d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71375"/>
            <a:ext cx="5487507" cy="217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 rotWithShape="1">
          <a:blip r:embed="rId4">
            <a:alphaModFix/>
          </a:blip>
          <a:srcRect b="0" l="0" r="803" t="0"/>
          <a:stretch/>
        </p:blipFill>
        <p:spPr>
          <a:xfrm>
            <a:off x="5421425" y="2971375"/>
            <a:ext cx="3722575" cy="21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291500" y="1720775"/>
            <a:ext cx="8519100" cy="21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The left-side 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simulation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is a random walk simulation including 500 random walks, proving that our portfolio is actually slightly unlucky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The right-side simulation tells a similar story, with Sharpe being perfectly average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71900" y="3140375"/>
            <a:ext cx="8222100" cy="14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SAA improved on both benchmarks, but breached the drawdown limit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TAA overlay was the only portfolio to pass all three IPS targets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TAA improved return while also reducing volatility and drawdown, resulting in stronger risk-adjusted performance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453" y="1703175"/>
            <a:ext cx="7665087" cy="14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Continued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471900" y="1919075"/>
            <a:ext cx="3861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TAA portfolio separated most clearly after 2016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better downside protection during stress periods allowed for stronger compounding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TAA offered less protection during 2022, when equities and bonds sold off together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200" y="2029050"/>
            <a:ext cx="4810800" cy="2490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SAA vs TAA Contribution 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Relative to the diversified benchmark, the SAA improved return from 7.71% to 8.50% and reduced volatility from 11.91% to 10.41%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SAA added value through a better strategic asset mix and diversification, but still breached the max drawdown constraint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TAA overlay further improved return to 9.49% and reduced volatility to 9.13%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TAA significantly reduced max drawdown from -30.54% to -19.05%, making it the only portfolio to satisfy all 3 IPS targets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SAA created the strategic foundation, while the TAA added downside protection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&amp; Limitations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recommend that Whitmore Capital Partners adopt the SAA as the baseline portfolio with the market stress TAA overlay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TAA improved return, volatility, and max drawdown, as well as Sharpe and Calmar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overlay works best when market stress signals deteriorate together, and may struggle with sharp crashes and fast reversals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bond equity correlation relationship deteriorates, as in 2022, the TAA offers less protection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TAA should be treated as a decision support tool, not an automated system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